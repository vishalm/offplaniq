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92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5943600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6327648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711696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7095744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479792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863840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247888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8631936" y="22860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5943600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6327648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6711696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7095744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7479792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863840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8247888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8631936" y="612648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5943600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6327648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711696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7095744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7479792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7863840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8247888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8631936" y="996696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5943600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6327648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6711696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7095744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7479792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7863840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8247888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8631936" y="1380744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5943600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6327648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6711696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7095744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7479792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7863840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8247888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Shape 40"/>
          <p:cNvSpPr/>
          <p:nvPr/>
        </p:nvSpPr>
        <p:spPr>
          <a:xfrm>
            <a:off x="8631936" y="1764792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3" name="Shape 41"/>
          <p:cNvSpPr/>
          <p:nvPr/>
        </p:nvSpPr>
        <p:spPr>
          <a:xfrm>
            <a:off x="5943600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Shape 42"/>
          <p:cNvSpPr/>
          <p:nvPr/>
        </p:nvSpPr>
        <p:spPr>
          <a:xfrm>
            <a:off x="6327648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5" name="Shape 43"/>
          <p:cNvSpPr/>
          <p:nvPr/>
        </p:nvSpPr>
        <p:spPr>
          <a:xfrm>
            <a:off x="6711696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6" name="Shape 44"/>
          <p:cNvSpPr/>
          <p:nvPr/>
        </p:nvSpPr>
        <p:spPr>
          <a:xfrm>
            <a:off x="7095744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Shape 45"/>
          <p:cNvSpPr/>
          <p:nvPr/>
        </p:nvSpPr>
        <p:spPr>
          <a:xfrm>
            <a:off x="7479792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Shape 46"/>
          <p:cNvSpPr/>
          <p:nvPr/>
        </p:nvSpPr>
        <p:spPr>
          <a:xfrm>
            <a:off x="7863840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Shape 47"/>
          <p:cNvSpPr/>
          <p:nvPr/>
        </p:nvSpPr>
        <p:spPr>
          <a:xfrm>
            <a:off x="8247888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8631936" y="2148840"/>
            <a:ext cx="73152" cy="7315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Shape 49"/>
          <p:cNvSpPr/>
          <p:nvPr/>
        </p:nvSpPr>
        <p:spPr>
          <a:xfrm>
            <a:off x="502920" y="731520"/>
            <a:ext cx="18288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Text 50"/>
          <p:cNvSpPr/>
          <p:nvPr/>
        </p:nvSpPr>
        <p:spPr>
          <a:xfrm>
            <a:off x="502920" y="731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DUBAI · OFF-PLAN INTELLIGENCE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02920" y="1527048"/>
            <a:ext cx="91440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Shape 52"/>
          <p:cNvSpPr/>
          <p:nvPr/>
        </p:nvSpPr>
        <p:spPr>
          <a:xfrm>
            <a:off x="630936" y="1399032"/>
            <a:ext cx="9144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Shape 53"/>
          <p:cNvSpPr/>
          <p:nvPr/>
        </p:nvSpPr>
        <p:spPr>
          <a:xfrm>
            <a:off x="758952" y="1280160"/>
            <a:ext cx="9144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Shape 54"/>
          <p:cNvSpPr/>
          <p:nvPr/>
        </p:nvSpPr>
        <p:spPr>
          <a:xfrm>
            <a:off x="886968" y="1435608"/>
            <a:ext cx="914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Text 55"/>
          <p:cNvSpPr/>
          <p:nvPr/>
        </p:nvSpPr>
        <p:spPr>
          <a:xfrm>
            <a:off x="1051560" y="1261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OffplanIQ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02920" y="1965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Bloomberg is to stocks,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502920" y="2514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OffplanIQ is to Dubai off-plan.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502920" y="3337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PSF tracking · IRR calculators · Developer scorecards · Sell-through velocity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serious investors and real estate professionals.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Text 6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offplaniq.com  ·  hello@offplaniq.com  ·  Dubai, UAE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32320" y="1005840"/>
            <a:ext cx="173736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Text 62"/>
          <p:cNvSpPr/>
          <p:nvPr/>
        </p:nvSpPr>
        <p:spPr>
          <a:xfrm>
            <a:off x="7132320" y="1042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142+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713232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Projects Tracked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132320" y="1892808"/>
            <a:ext cx="173736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Text 65"/>
          <p:cNvSpPr/>
          <p:nvPr/>
        </p:nvSpPr>
        <p:spPr>
          <a:xfrm>
            <a:off x="7132320" y="1929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71B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132320" y="2258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Est. Market Value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132320" y="2779776"/>
            <a:ext cx="173736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Text 68"/>
          <p:cNvSpPr/>
          <p:nvPr/>
        </p:nvSpPr>
        <p:spPr>
          <a:xfrm>
            <a:off x="7132320" y="28163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7132320" y="31455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DLD Data Freshness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132320" y="3666744"/>
            <a:ext cx="173736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Text 71"/>
          <p:cNvSpPr/>
          <p:nvPr/>
        </p:nvSpPr>
        <p:spPr>
          <a:xfrm>
            <a:off x="713232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132320" y="40325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Transparent Scoring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20040" y="13716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2834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is making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AED-million decisions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incomplete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49040" y="36576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3749040" y="365760"/>
            <a:ext cx="6400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3886200" y="457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26280" y="475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86200" y="914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pieces together WhatsApp groups, broker calls, and outdated DLD PDFs. Every decision starts with a research sprint.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187452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749040" y="1874520"/>
            <a:ext cx="6400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3886200" y="19659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Delays Hidden Until It's Too Late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filings show delay signals weeks before the market reacts. Without systematic monitoring, you miss the window to 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338328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3749040" y="3383280"/>
            <a:ext cx="6400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3886200" y="34747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493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Guesswork Costs Deals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620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ask 'what's my return?' You estimate. Deals stall. Competitors with data close while you're still researching.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49040" y="4754880"/>
            <a:ext cx="512064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3749040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2400E"/>
                </a:solidFill>
              </a:rPr>
              <a:t>⚡  5 of the top 116 tracked projects are currently delayed — are yours on the list?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630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OffplanIQ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intelligence layer for UAE off-plan real estate.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project. Every developer. Every signal. One dashboard.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196596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965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</a:rPr>
              <a:t>KNOW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116 projects, 57,744 units tracked in real time. Sell-through, PSF history, area comparison — always current.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2377440"/>
            <a:ext cx="196596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265176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SCORE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0" y="2816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Rankings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3291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Transparent 0–100 scoring. No black boxes. Sell-through 40%, PSF momentum 30%, Developer 20%, Handover 10%.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196596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0600" y="2816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Intelligence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32918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IRR calculator across payment plans. Comparable projects. Risk vs reward matrix. Close with confidence.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0" y="411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Active Projects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234440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6949440" y="1581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2,612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Avg PSF Today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2404872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6949440" y="27523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944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Avg Absorption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3575304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949440" y="39227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On-track Handovers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An Investor Needs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3B82F6"/>
                </a:solidFill>
              </a:rPr>
              <a:t>6 CORE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6148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6148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393192" y="1261872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PSF Tracker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Price-per-sqft history for every project, updated daily from DLD transaction records. Track price momentum with precision.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72968" y="1097280"/>
            <a:ext cx="276148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3172968" y="1097280"/>
            <a:ext cx="276148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0"/>
          <p:cNvSpPr/>
          <p:nvPr/>
        </p:nvSpPr>
        <p:spPr>
          <a:xfrm>
            <a:off x="3337560" y="1261872"/>
            <a:ext cx="438912" cy="438912"/>
          </a:xfrm>
          <a:prstGeom prst="ellipse">
            <a:avLst/>
          </a:prstGeom>
          <a:solidFill>
            <a:srgbClr val="1C3A2F"/>
          </a:solidFill>
          <a:ln w="12700">
            <a:solidFill>
              <a:srgbClr val="1C3A2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3441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Calculator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Compare every payment plan side by side as real annualised returns. Post-Handover 30/70? 60/40 Standard? See exactly what you get.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17336" y="1097280"/>
            <a:ext cx="276148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4"/>
          <p:cNvSpPr/>
          <p:nvPr/>
        </p:nvSpPr>
        <p:spPr>
          <a:xfrm>
            <a:off x="6117336" y="1097280"/>
            <a:ext cx="27614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5"/>
          <p:cNvSpPr/>
          <p:nvPr/>
        </p:nvSpPr>
        <p:spPr>
          <a:xfrm>
            <a:off x="6281928" y="1261872"/>
            <a:ext cx="438912" cy="438912"/>
          </a:xfrm>
          <a:prstGeom prst="ellipse">
            <a:avLst/>
          </a:prstGeom>
          <a:solidFill>
            <a:srgbClr val="3A2C1A"/>
          </a:solidFill>
          <a:ln w="12700">
            <a:solidFill>
              <a:srgbClr val="3A2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3441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03136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Scorecards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81928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On-time delivery rate, RERA complaints, quality ratings — every developer scored 0 to 100 with full transparency.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28600" y="2999232"/>
            <a:ext cx="276148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Shape 19"/>
          <p:cNvSpPr/>
          <p:nvPr/>
        </p:nvSpPr>
        <p:spPr>
          <a:xfrm>
            <a:off x="228600" y="2999232"/>
            <a:ext cx="276148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0"/>
          <p:cNvSpPr/>
          <p:nvPr/>
        </p:nvSpPr>
        <p:spPr>
          <a:xfrm>
            <a:off x="393192" y="3163824"/>
            <a:ext cx="438912" cy="438912"/>
          </a:xfrm>
          <a:prstGeom prst="ellipse">
            <a:avLst/>
          </a:prstGeom>
          <a:solidFill>
            <a:srgbClr val="2A1A3A"/>
          </a:solidFill>
          <a:ln w="12700">
            <a:solidFill>
              <a:srgbClr val="2A1A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461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3163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Velocity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93192" y="3685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Know how fast units are actually selling. Slow sell-through means developer pressure — your negotiation leverage.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172968" y="2999232"/>
            <a:ext cx="276148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4"/>
          <p:cNvSpPr/>
          <p:nvPr/>
        </p:nvSpPr>
        <p:spPr>
          <a:xfrm>
            <a:off x="3172968" y="2999232"/>
            <a:ext cx="2761488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5"/>
          <p:cNvSpPr/>
          <p:nvPr/>
        </p:nvSpPr>
        <p:spPr>
          <a:xfrm>
            <a:off x="3337560" y="3163824"/>
            <a:ext cx="438912" cy="438912"/>
          </a:xfrm>
          <a:prstGeom prst="ellipse">
            <a:avLst/>
          </a:prstGeom>
          <a:solidFill>
            <a:srgbClr val="3A1A2A"/>
          </a:solidFill>
          <a:ln w="12700">
            <a:solidFill>
              <a:srgbClr val="3A1A2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2461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3163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Price Alerts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337560" y="3685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Get notified the moment a watched project drops in score, stalls in sell-through, or shows a handover delay signal.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17336" y="2999232"/>
            <a:ext cx="276148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6" name="Shape 29"/>
          <p:cNvSpPr/>
          <p:nvPr/>
        </p:nvSpPr>
        <p:spPr>
          <a:xfrm>
            <a:off x="6117336" y="2999232"/>
            <a:ext cx="2761488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Shape 30"/>
          <p:cNvSpPr/>
          <p:nvPr/>
        </p:nvSpPr>
        <p:spPr>
          <a:xfrm>
            <a:off x="6281928" y="3163824"/>
            <a:ext cx="438912" cy="43891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2461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03136" y="3163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Digest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281928" y="3685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One email every Sunday with watchlist moves, new launches, and the Dubai market PSF snapshot. Your week's intelligence brief.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Every project gets a transparent 0–100 score. No ML black boxes. No guesswork. You see exactly how every point is earned.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618488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0–39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Avoid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75688" y="1508760"/>
            <a:ext cx="161848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2075688" y="15087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40–54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Caution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39896" y="1508760"/>
            <a:ext cx="1618488" cy="4114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739896" y="15087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55–69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04104" y="1508760"/>
            <a:ext cx="1618488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404104" y="15087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70–84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Good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68312" y="1508760"/>
            <a:ext cx="161848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7068312" y="15087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85–100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Excellent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2011680" cy="2606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274320" y="2313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914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How much has sold — the ultimate demand signal. High sell-through = strong project confidence.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50592" y="2148840"/>
            <a:ext cx="2011680" cy="2606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2450592" y="2313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245059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 Momentum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99232" y="3337560"/>
            <a:ext cx="914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2587752" y="34747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6-month price trend. Is it appreciating? Stalling? Price behaviour predicts future performance.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148840"/>
            <a:ext cx="2011680" cy="2606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626864" y="2313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626864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Track Record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75504" y="3337560"/>
            <a:ext cx="914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764024" y="34747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On-time delivery rate, RERA complaints, historical ROI across all their projects.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03136" y="2148840"/>
            <a:ext cx="2011680" cy="2606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803136" y="2313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803136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Status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51776" y="3337560"/>
            <a:ext cx="914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6940296" y="34747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On time or delayed? Delays kill investor ROI and trigger penalty clauses.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20040" y="411480"/>
            <a:ext cx="13716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ANALYTICS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Your command centre for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the entire UAE off-plan market.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Refreshed every 24 hours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from DLD + RERA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3977640"/>
            <a:ext cx="13716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200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T+1 LIVE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8288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977640" y="2286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</a:rPr>
              <a:t>MARKET ANNOUNCEMENTS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0" y="4572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NEAR SELLOUT (10)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1920" y="6583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Creek Gate 91%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0" y="8229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Cavalli Tower 90%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0" y="4572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</a:rPr>
              <a:t>RECENT LAUNCHES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23560" y="6583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Mercedes-Benz Places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23560" y="8229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Mangrove Residences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4572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</a:rPr>
              <a:t>SIGNIFICANT DELAYS (5)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5200" y="6583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Azizi Riviera +18mo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8229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Azizi Venice +12mo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234440"/>
            <a:ext cx="1234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3840480" y="126187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840480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Total Projects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0" y="1234440"/>
            <a:ext cx="1234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5120640" y="126187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39,306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20640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Units Sold (68%)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1234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400800" y="126187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2,612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0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Avg PSF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80960" y="1234440"/>
            <a:ext cx="1234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7680960" y="126187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71.2B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680960" y="160934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Est. Market Value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0" y="205740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397764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</a:rPr>
              <a:t>AREA COMPARISON — AVG PSF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77640" y="2377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Palm Jumeirah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2414016"/>
            <a:ext cx="2798064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8183880" y="2377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F1E"/>
                </a:solidFill>
              </a:rPr>
              <a:t>AED 4,500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77640" y="2633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Downtown Dubai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2670048"/>
            <a:ext cx="260604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8183880" y="2633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F1E"/>
                </a:solidFill>
              </a:rPr>
              <a:t>AED 4,200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77640" y="2889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Dubai Harbour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0" y="2926080"/>
            <a:ext cx="200253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8183880" y="2889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F1E"/>
                </a:solidFill>
              </a:rPr>
              <a:t>AED 3,225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77640" y="3145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Business Bay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0" y="3182112"/>
            <a:ext cx="1903781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8183880" y="31455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F1E"/>
                </a:solidFill>
              </a:rPr>
              <a:t>AED 3,064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0" y="356616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3977640" y="3611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</a:rPr>
              <a:t>DEVELOPER RANKINGS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77640" y="3877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Omniyat  93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977640" y="4096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Meraas  91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977640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Ellington  89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977640" y="4535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Emaar  88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46520" y="356616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658368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</a:rPr>
              <a:t>TOP 5 PROJECTS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8368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Creek Gate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01000" y="38587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</a:rPr>
              <a:t>98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8504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+24%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4087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Sobha One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01000" y="4087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</a:rPr>
              <a:t>97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85048" y="40873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+36%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83680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The Valley Ph.3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01000" y="4315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</a:rPr>
              <a:t>94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85048" y="4315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+20%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83680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</a:rPr>
              <a:t>Expo Valley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01000" y="4544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</a:rPr>
              <a:t>94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85048" y="4544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+24%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Deep-Dive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82F6"/>
                </a:solidFill>
              </a:rPr>
              <a:t>Example: Expo Valley by Emaar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88720" cy="11887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0B981"/>
                </a:solidFill>
              </a:rPr>
              <a:t>STRONG BUY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874520" y="987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Current PSF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234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1,680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+24% since launch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703320" y="987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Units Sold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03320" y="1234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382/450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85% absorption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9144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532120" y="987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Handover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3212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 Schedule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69480" y="9144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7360920" y="987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Est. Annual IRR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1234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6092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60/40 Standard plan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57200" y="2395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SCORE BREAKDOWN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1E"/>
                </a:solidFill>
              </a:rPr>
              <a:t>Sell-through demand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2743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36/40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62656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457200" y="2962656"/>
            <a:ext cx="296265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45720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1E"/>
                </a:solidFill>
              </a:rPr>
              <a:t>PSF momentum (6m)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94760" y="3246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30/30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465576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457200" y="3465576"/>
            <a:ext cx="32918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1E"/>
                </a:solidFill>
              </a:rPr>
              <a:t>Developer reliability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94760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18/20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68496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457200" y="3968496"/>
            <a:ext cx="296265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F1E"/>
                </a:solidFill>
              </a:rPr>
              <a:t>Handover status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94760" y="4251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10/10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471416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457200" y="4471416"/>
            <a:ext cx="32918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Shape 40"/>
          <p:cNvSpPr/>
          <p:nvPr/>
        </p:nvSpPr>
        <p:spPr>
          <a:xfrm>
            <a:off x="4617720" y="2331720"/>
            <a:ext cx="4206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475488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INVESTMENT SIGNALS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2761488"/>
            <a:ext cx="3931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Shape 43"/>
          <p:cNvSpPr/>
          <p:nvPr/>
        </p:nvSpPr>
        <p:spPr>
          <a:xfrm>
            <a:off x="4754880" y="2761488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4892040" y="27614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PSF up 24% since launch. Strong price momentum.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191256"/>
            <a:ext cx="3931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Shape 46"/>
          <p:cNvSpPr/>
          <p:nvPr/>
        </p:nvSpPr>
        <p:spPr>
          <a:xfrm>
            <a:off x="4754880" y="3191256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4892040" y="319125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85% sold. Strong demand validated by market.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621024"/>
            <a:ext cx="3931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Shape 49"/>
          <p:cNvSpPr/>
          <p:nvPr/>
        </p:nvSpPr>
        <p:spPr>
          <a:xfrm>
            <a:off x="4754880" y="3621024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Text 50"/>
          <p:cNvSpPr/>
          <p:nvPr/>
        </p:nvSpPr>
        <p:spPr>
          <a:xfrm>
            <a:off x="4892040" y="362102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Handover on track. No delivery risk detected.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4050792"/>
            <a:ext cx="3931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Shape 52"/>
          <p:cNvSpPr/>
          <p:nvPr/>
        </p:nvSpPr>
        <p:spPr>
          <a:xfrm>
            <a:off x="4754880" y="4050792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Text 53"/>
          <p:cNvSpPr/>
          <p:nvPr/>
        </p:nvSpPr>
        <p:spPr>
          <a:xfrm>
            <a:off x="4892040" y="40507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Developer scored 88/100. Tier-1 track record.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4480560"/>
            <a:ext cx="3931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Shape 55"/>
          <p:cNvSpPr/>
          <p:nvPr/>
        </p:nvSpPr>
        <p:spPr>
          <a:xfrm>
            <a:off x="4754880" y="4480560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Text 56"/>
          <p:cNvSpPr/>
          <p:nvPr/>
        </p:nvSpPr>
        <p:spPr>
          <a:xfrm>
            <a:off x="4892040" y="44805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IRR 8.2% annualised on standard 60/40 plan.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7479792" y="27432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7827264" y="27432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8174736" y="27432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8522208" y="27432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132320" y="62179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7479792" y="62179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827264" y="62179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174736" y="62179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8522208" y="62179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7132320" y="96926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7479792" y="96926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7827264" y="96926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8174736" y="96926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8522208" y="96926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7132320" y="1316736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7479792" y="1316736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7827264" y="1316736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8174736" y="1316736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8522208" y="1316736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7132320" y="1664208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7479792" y="1664208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7827264" y="1664208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8174736" y="1664208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8522208" y="1664208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7132320" y="201168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7479792" y="201168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7827264" y="201168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8174736" y="201168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8522208" y="2011680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7132320" y="235915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7479792" y="235915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7827264" y="235915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8174736" y="235915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8522208" y="2359152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7132320" y="270662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7479792" y="270662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7827264" y="270662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8174736" y="270662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Shape 40"/>
          <p:cNvSpPr/>
          <p:nvPr/>
        </p:nvSpPr>
        <p:spPr>
          <a:xfrm>
            <a:off x="8522208" y="2706624"/>
            <a:ext cx="64008" cy="6400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Shape 41"/>
          <p:cNvSpPr/>
          <p:nvPr/>
        </p:nvSpPr>
        <p:spPr>
          <a:xfrm>
            <a:off x="411480" y="411480"/>
            <a:ext cx="11887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411480" y="411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THE MATH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" y="777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Good Decision Pays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Years of Subscription.</a:t>
            </a:r>
            <a:endParaRPr lang="en-US" sz="3400" dirty="0"/>
          </a:p>
        </p:txBody>
      </p:sp>
      <p:sp>
        <p:nvSpPr>
          <p:cNvPr id="46" name="Shape 44"/>
          <p:cNvSpPr/>
          <p:nvPr/>
        </p:nvSpPr>
        <p:spPr>
          <a:xfrm>
            <a:off x="274320" y="2148840"/>
            <a:ext cx="2697480" cy="2651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Shape 45"/>
          <p:cNvSpPr/>
          <p:nvPr/>
        </p:nvSpPr>
        <p:spPr>
          <a:xfrm>
            <a:off x="274320" y="2148840"/>
            <a:ext cx="2697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41148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Individual Investor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1148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Identify a project 3 months before PSF spikes.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3273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30K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411480" y="37856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savings on one deal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1480" y="4059936"/>
            <a:ext cx="24231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41148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vs AED 9,000 / year subscription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154680" y="2148840"/>
            <a:ext cx="2697480" cy="2651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Shape 53"/>
          <p:cNvSpPr/>
          <p:nvPr/>
        </p:nvSpPr>
        <p:spPr>
          <a:xfrm>
            <a:off x="3154680" y="214884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Text 54"/>
          <p:cNvSpPr/>
          <p:nvPr/>
        </p:nvSpPr>
        <p:spPr>
          <a:xfrm>
            <a:off x="329184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Brokerage Team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329184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Close 2 extra deals/month from data-backed recommendations.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91840" y="3273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60K+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3291840" y="37856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additional commission/mo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91840" y="4059936"/>
            <a:ext cx="24231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ext 59"/>
          <p:cNvSpPr/>
          <p:nvPr/>
        </p:nvSpPr>
        <p:spPr>
          <a:xfrm>
            <a:off x="329184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vs AED 42,000 / year (Agency plan)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035040" y="2148840"/>
            <a:ext cx="2697480" cy="265176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Shape 61"/>
          <p:cNvSpPr/>
          <p:nvPr/>
        </p:nvSpPr>
        <p:spPr>
          <a:xfrm>
            <a:off x="6035040" y="214884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Text 62"/>
          <p:cNvSpPr/>
          <p:nvPr/>
        </p:nvSpPr>
        <p:spPr>
          <a:xfrm>
            <a:off x="6172200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Portfolio Manager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617220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Avoid one delayed project. Save 12 months of financing cost.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72200" y="3273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100K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6172200" y="37856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downside protected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72200" y="4059936"/>
            <a:ext cx="24231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Text 67"/>
          <p:cNvSpPr/>
          <p:nvPr/>
        </p:nvSpPr>
        <p:spPr>
          <a:xfrm>
            <a:off x="617220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vs AED 9,000 / year subscription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Start free. Upgrade when it pays for itself.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forever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566928" y="24688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68096" y="24231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Top 20 projects by score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7523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768096" y="2706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Sell-through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0358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768096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Basic project info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68096" y="3273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PSF data (30-day lag)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602736"/>
            <a:ext cx="137160" cy="1371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777240" y="35570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IRR calculator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858768"/>
            <a:ext cx="137160" cy="1371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777240" y="3813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Developer scorecards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137160" cy="1371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Alerts &amp; watchlist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370832"/>
            <a:ext cx="137160" cy="1371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777240" y="43251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Live data (T+1)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21945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Get Started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27248" y="960120"/>
            <a:ext cx="2697480" cy="4114800"/>
          </a:xfrm>
          <a:prstGeom prst="rect">
            <a:avLst/>
          </a:prstGeom>
          <a:solidFill>
            <a:srgbClr val="0A0F1E"/>
          </a:solidFill>
          <a:ln w="25400">
            <a:solidFill>
              <a:srgbClr val="3B82F6"/>
            </a:solidFill>
            <a:prstDash val="solid"/>
          </a:ln>
          <a:effectLst>
            <a:outerShdw blurRad="2032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3703320" y="850392"/>
            <a:ext cx="155448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3703320" y="850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Investor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1527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750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383280" y="2039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/month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83280" y="2286000"/>
            <a:ext cx="21945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3401568" y="24688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3602736" y="24231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All 142+ active projects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01568" y="27523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3602736" y="2706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Live PSF data (T+1)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01568" y="30358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3602736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IRR calculator + sensitivity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01568" y="33192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3602736" y="3273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Developer scorecards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01568" y="36027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3602736" y="35570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Alerts &amp; watchlist (unlimited)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01568" y="38862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3602736" y="38404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Weekly Sunday digest email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01568" y="41696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3602736" y="41239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Score breakdown detail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83280" y="4480560"/>
            <a:ext cx="21945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Text 48"/>
          <p:cNvSpPr/>
          <p:nvPr/>
        </p:nvSpPr>
        <p:spPr>
          <a:xfrm>
            <a:off x="3383280" y="4480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Free Trial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35040" y="105156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2" name="Text 50"/>
          <p:cNvSpPr/>
          <p:nvPr/>
        </p:nvSpPr>
        <p:spPr>
          <a:xfrm>
            <a:off x="621792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Agency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217920" y="15270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3,500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6217920" y="2039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/month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17920" y="2286000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Shape 54"/>
          <p:cNvSpPr/>
          <p:nvPr/>
        </p:nvSpPr>
        <p:spPr>
          <a:xfrm>
            <a:off x="6236208" y="24688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Text 55"/>
          <p:cNvSpPr/>
          <p:nvPr/>
        </p:nvSpPr>
        <p:spPr>
          <a:xfrm>
            <a:off x="6437376" y="24231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Everything in Investor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36208" y="27523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Text 57"/>
          <p:cNvSpPr/>
          <p:nvPr/>
        </p:nvSpPr>
        <p:spPr>
          <a:xfrm>
            <a:off x="6437376" y="2706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5 team seats included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36208" y="30358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ext 59"/>
          <p:cNvSpPr/>
          <p:nvPr/>
        </p:nvSpPr>
        <p:spPr>
          <a:xfrm>
            <a:off x="6437376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White-label PDF reports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36208" y="33192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Text 61"/>
          <p:cNvSpPr/>
          <p:nvPr/>
        </p:nvSpPr>
        <p:spPr>
          <a:xfrm>
            <a:off x="6437376" y="3273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API access (REST)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36208" y="36027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Text 63"/>
          <p:cNvSpPr/>
          <p:nvPr/>
        </p:nvSpPr>
        <p:spPr>
          <a:xfrm>
            <a:off x="6437376" y="35570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Priority support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236208" y="38862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Text 65"/>
          <p:cNvSpPr/>
          <p:nvPr/>
        </p:nvSpPr>
        <p:spPr>
          <a:xfrm>
            <a:off x="6437376" y="38404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F1E"/>
                </a:solidFill>
              </a:rPr>
              <a:t>Custom area filters saved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17920" y="4480560"/>
            <a:ext cx="21945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Text 67"/>
          <p:cNvSpPr/>
          <p:nvPr/>
        </p:nvSpPr>
        <p:spPr>
          <a:xfrm>
            <a:off x="6217920" y="4480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</a:rPr>
              <a:t>Contact Sales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All plans billed in AED. Cancel any time. No refunds on partial months.  ·  Questions? hello@offplaniq.com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11480" y="365760"/>
            <a:ext cx="13716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AGENCY PLAN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Brokerages.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219456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11480" y="2267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3,500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per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For 5 users · AED 700/user/month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vs AED 750 × 5 = AED 3,750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274320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0700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67328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Team Seats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0040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Every broker and analyst on your team gets full Investor-tier access under one subscription.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0" y="914400"/>
            <a:ext cx="274320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6126480" y="1115568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070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93408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PDF Reports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12648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Export branded research reports to impress clients. Your logo, your data, our intelligence.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017520" y="2834640"/>
            <a:ext cx="274320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7"/>
          <p:cNvSpPr/>
          <p:nvPr/>
        </p:nvSpPr>
        <p:spPr>
          <a:xfrm>
            <a:off x="3200400" y="3035808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272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67328" y="3017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Access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20040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Pipe OffplanIQ data directly into your CRM, dashboards, or client portal. Full programmatic access.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943600" y="2834640"/>
            <a:ext cx="274320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1"/>
          <p:cNvSpPr/>
          <p:nvPr/>
        </p:nvSpPr>
        <p:spPr>
          <a:xfrm>
            <a:off x="6126480" y="3035808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2724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693408" y="3017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Area Filters Saved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1264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Each team member saves their own market focus. No more starting from scratch every session.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017520" y="4736592"/>
            <a:ext cx="5852160" cy="274320"/>
          </a:xfrm>
          <a:prstGeom prst="rect">
            <a:avLst/>
          </a:prstGeom>
          <a:solidFill>
            <a:srgbClr val="1C3A2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5"/>
          <p:cNvSpPr/>
          <p:nvPr/>
        </p:nvSpPr>
        <p:spPr>
          <a:xfrm>
            <a:off x="3017520" y="47365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✓  Priority support  ·  ✓  Onboarding included  ·  ✓  Dedicated account manager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76272" y="1627632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868680" y="1170432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Sign up with email — no credit card needed. Free plan starts immediately with top 20 projects by score.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251960"/>
            <a:ext cx="173736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11480" y="42519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Takes 60 seconds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52544" y="1627632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044952" y="117043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3044952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50592" y="201168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2450592" y="201168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2587752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Market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87752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Browse 116 active projects on the Analytics dashboard. Filter by city, developer, score tier, PSF range, and handover date.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4251960"/>
            <a:ext cx="173736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2587752" y="42519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Live data from day 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28816" y="1627632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5221224" y="117043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5221224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26864" y="201168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4626864" y="201168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4764024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Watchlist &amp; Alerts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64024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projects to your watchlist. Configure score-drop thresholds, new launches, handover delay alerts, and Sunday digest email.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64024" y="4251960"/>
            <a:ext cx="173736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4764024" y="42519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Never miss a signal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97496" y="1170432"/>
            <a:ext cx="685800" cy="6858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7397496" y="1170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03136" y="2011680"/>
            <a:ext cx="2011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6803136" y="2011680"/>
            <a:ext cx="20116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6940296" y="2121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Confidence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940296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Run IRR scenarios with the calculator. Compare payment plans. Export white-label reports. Present data-backed recommendations to clients.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0296" y="4251960"/>
            <a:ext cx="173736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6940296" y="42519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</a:rPr>
              <a:t>Win more mandates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No setup fees · No long-term contracts · Cancel anytime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28600" y="274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914400" y="274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600200" y="274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286000" y="274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2971800" y="274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914400" y="960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1600200" y="960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2286000" y="960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2971800" y="960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228600" y="16459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914400" y="16459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1600200" y="16459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2286000" y="16459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2971800" y="16459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228600" y="23317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914400" y="23317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1600200" y="23317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2286000" y="23317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2971800" y="23317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914400" y="30175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1600200" y="30175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2286000" y="30175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2971800" y="30175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228600" y="3703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914400" y="3703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1600200" y="3703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2286000" y="3703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2971800" y="37033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228600" y="4389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914400" y="4389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1600200" y="4389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2286000" y="4389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2971800" y="4389120"/>
            <a:ext cx="91440" cy="91440"/>
          </a:xfrm>
          <a:prstGeom prst="ellipse">
            <a:avLst/>
          </a:prstGeom>
          <a:solidFill>
            <a:srgbClr val="1A5FC7"/>
          </a:solidFill>
          <a:ln w="12700">
            <a:solidFill>
              <a:srgbClr val="1A5FC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365760" y="1188720"/>
            <a:ext cx="3383280" cy="2560320"/>
          </a:xfrm>
          <a:prstGeom prst="rect">
            <a:avLst/>
          </a:prstGeom>
          <a:solidFill>
            <a:srgbClr val="1A5FC7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502920" y="1371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good investment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pays for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subscription."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29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</a:rPr>
              <a:t>— OffplanIQ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54864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invest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smarter?</a:t>
            </a:r>
            <a:endParaRPr lang="en-US" sz="3600" dirty="0"/>
          </a:p>
        </p:txBody>
      </p:sp>
      <p:sp>
        <p:nvSpPr>
          <p:cNvPr id="42" name="Shape 40"/>
          <p:cNvSpPr/>
          <p:nvPr/>
        </p:nvSpPr>
        <p:spPr>
          <a:xfrm>
            <a:off x="4389120" y="2011680"/>
            <a:ext cx="43891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4389120" y="20116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 Free — No Credit Card Needed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389120" y="2606040"/>
            <a:ext cx="438912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4389120" y="26060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Book a Demo (Agency Plan)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38912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WEBSITE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offplaniq.com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0" y="3721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EMAIL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hello@offplaniq.com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89120" y="4105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LOCATION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69280" y="4105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Dubai, UAE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114800" y="4754880"/>
            <a:ext cx="5029200" cy="38862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411480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© 2026 OffplanIQ · Data from Property Finder, DLD, RERA · Updated 8 Apr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Microsoft Macintosh PowerPoint</Application>
  <PresentationFormat>On-screen Show (16:9)</PresentationFormat>
  <Paragraphs>290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OffplanIQ – B2B Sales Presentation</dc:title>
  <dc:subject>PptxGenJS Presentation</dc:subject>
  <dc:creator>PptxGenJS</dc:creator>
  <cp:lastModifiedBy>Vishal Mishra</cp:lastModifiedBy>
  <cp:revision>1</cp:revision>
  <dcterms:created xsi:type="dcterms:W3CDTF">2026-04-08T12:02:26Z</dcterms:created>
  <dcterms:modified xsi:type="dcterms:W3CDTF">2026-04-08T12:06:52Z</dcterms:modified>
</cp:coreProperties>
</file>